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69" r:id="rId6"/>
    <p:sldId id="270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6" autoAdjust="0"/>
  </p:normalViewPr>
  <p:slideViewPr>
    <p:cSldViewPr showGuides="1">
      <p:cViewPr varScale="1">
        <p:scale>
          <a:sx n="82" d="100"/>
          <a:sy n="82" d="100"/>
        </p:scale>
        <p:origin x="720" y="77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2/13/2026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2/13/2026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2/13/2026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9133654" cy="2514601"/>
          </a:xfrm>
        </p:spPr>
        <p:txBody>
          <a:bodyPr/>
          <a:lstStyle/>
          <a:p>
            <a:r>
              <a:rPr lang="en-US" dirty="0"/>
              <a:t>SUPERSTORE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 BI Project</a:t>
            </a: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contribute to the success of business by utilizing data analysis techniques, specially focusing on </a:t>
            </a:r>
            <a:r>
              <a:rPr lang="en-US" b="1" dirty="0"/>
              <a:t>time series analysis</a:t>
            </a:r>
            <a:r>
              <a:rPr lang="en-US" dirty="0"/>
              <a:t> to provide valuable insights and accurate </a:t>
            </a:r>
            <a:r>
              <a:rPr lang="en-US" b="1" dirty="0"/>
              <a:t>sales forecasting</a:t>
            </a:r>
          </a:p>
        </p:txBody>
      </p:sp>
    </p:spTree>
    <p:extLst>
      <p:ext uri="{BB962C8B-B14F-4D97-AF65-F5344CB8AC3E}">
        <p14:creationId xmlns:p14="http://schemas.microsoft.com/office/powerpoint/2010/main" val="413117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of Dashboard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2" y="1714500"/>
            <a:ext cx="9565703" cy="47388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dashboard analyzes Superstore’s overall business performance across sales, profit, customers, products, regions, and time.</a:t>
            </a:r>
          </a:p>
          <a:p>
            <a:r>
              <a:rPr lang="en-US" dirty="0"/>
              <a:t>The company generated </a:t>
            </a:r>
            <a:r>
              <a:rPr lang="en-US" b="1" dirty="0"/>
              <a:t>2M in total sales</a:t>
            </a:r>
            <a:r>
              <a:rPr lang="en-US" dirty="0"/>
              <a:t> and </a:t>
            </a:r>
            <a:r>
              <a:rPr lang="en-US" b="1" dirty="0"/>
              <a:t>286K in profit</a:t>
            </a:r>
            <a:r>
              <a:rPr lang="en-US" dirty="0"/>
              <a:t>, selling </a:t>
            </a:r>
            <a:r>
              <a:rPr lang="en-US" b="1" dirty="0"/>
              <a:t>38K units</a:t>
            </a:r>
            <a:r>
              <a:rPr lang="en-US" dirty="0"/>
              <a:t> with an average delivery time of </a:t>
            </a:r>
            <a:r>
              <a:rPr lang="en-US" b="1" dirty="0"/>
              <a:t>4 days</a:t>
            </a:r>
            <a:r>
              <a:rPr lang="en-US" dirty="0"/>
              <a:t>, reflecting efficient operations.</a:t>
            </a:r>
          </a:p>
          <a:p>
            <a:r>
              <a:rPr lang="en-US" dirty="0"/>
              <a:t>Sales are largely driven by the </a:t>
            </a:r>
            <a:r>
              <a:rPr lang="en-US" b="1" dirty="0"/>
              <a:t>Consumer segment</a:t>
            </a:r>
            <a:r>
              <a:rPr lang="en-US" dirty="0"/>
              <a:t>, while </a:t>
            </a:r>
            <a:r>
              <a:rPr lang="en-US" b="1" dirty="0"/>
              <a:t>Technology</a:t>
            </a:r>
            <a:r>
              <a:rPr lang="en-US" dirty="0"/>
              <a:t> emerges as the leading category. At the product level, </a:t>
            </a:r>
            <a:r>
              <a:rPr lang="en-US" b="1" dirty="0"/>
              <a:t>Phones and Chairs</a:t>
            </a:r>
            <a:r>
              <a:rPr lang="en-US" dirty="0"/>
              <a:t> are the strongest contributors.</a:t>
            </a:r>
          </a:p>
          <a:p>
            <a:r>
              <a:rPr lang="en-US" dirty="0"/>
              <a:t>Regionally, the </a:t>
            </a:r>
            <a:r>
              <a:rPr lang="en-US" b="1" dirty="0"/>
              <a:t>West leads sales performance</a:t>
            </a:r>
            <a:r>
              <a:rPr lang="en-US" dirty="0"/>
              <a:t>, whereas the </a:t>
            </a:r>
            <a:r>
              <a:rPr lang="en-US" b="1" dirty="0"/>
              <a:t>South shows lower contribution</a:t>
            </a:r>
            <a:r>
              <a:rPr lang="en-US" dirty="0"/>
              <a:t>, indicating potential growth opportunities.</a:t>
            </a:r>
          </a:p>
          <a:p>
            <a:r>
              <a:rPr lang="en-US" dirty="0"/>
              <a:t>Trend analysis reveals a significant </a:t>
            </a:r>
            <a:r>
              <a:rPr lang="en-US" b="1" dirty="0"/>
              <a:t>sales and profit spike in Q4</a:t>
            </a:r>
            <a:r>
              <a:rPr lang="en-US" dirty="0"/>
              <a:t>, highlighting seasonal demand patterns.</a:t>
            </a:r>
          </a:p>
          <a:p>
            <a:r>
              <a:rPr lang="en-US" dirty="0"/>
              <a:t>Shipping insights show a dominance of </a:t>
            </a:r>
            <a:r>
              <a:rPr lang="en-US" b="1" dirty="0"/>
              <a:t>Standard Class</a:t>
            </a:r>
            <a:r>
              <a:rPr lang="en-US" dirty="0"/>
              <a:t>, suggesting customer preference for cost-effective delivery.</a:t>
            </a:r>
          </a:p>
          <a:p>
            <a:r>
              <a:rPr lang="en-US" dirty="0"/>
              <a:t>Finally, the </a:t>
            </a:r>
            <a:r>
              <a:rPr lang="en-US" b="1" dirty="0"/>
              <a:t>15-day forecast predicts stable sales</a:t>
            </a:r>
            <a:r>
              <a:rPr lang="en-US" dirty="0"/>
              <a:t>, supporting short-term planning and decision-making.</a:t>
            </a:r>
          </a:p>
          <a:p>
            <a:r>
              <a:rPr lang="en-US" dirty="0"/>
              <a:t>Overall, the analysis highlights strong revenue performance with opportunities to optimize profitability and regional balance.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3B9166-2E01-44C0-B213-4E36B4FF9306}" vid="{9FB243D3-233B-4EB4-BE37-C505132985D4}"/>
    </a:ext>
  </a:extLst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7567CE-A543-444C-8597-EB22784911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32D51B-405E-4F81-B5A9-F253CD7FC48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4CEB76F-5C52-4F69-A3C1-2DBEA8CF74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94</TotalTime>
  <Words>202</Words>
  <Application>Microsoft Office PowerPoint</Application>
  <PresentationFormat>Custom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Franklin Gothic Medium</vt:lpstr>
      <vt:lpstr>Business Contrast 16x9</vt:lpstr>
      <vt:lpstr>SUPERSTORE SALES Dashboard</vt:lpstr>
      <vt:lpstr>Project Objective</vt:lpstr>
      <vt:lpstr>Summary of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sangmesh hadapad</dc:creator>
  <cp:lastModifiedBy>sangmesh hadapad</cp:lastModifiedBy>
  <cp:revision>4</cp:revision>
  <dcterms:created xsi:type="dcterms:W3CDTF">2026-02-13T07:50:11Z</dcterms:created>
  <dcterms:modified xsi:type="dcterms:W3CDTF">2026-02-13T12:46:50Z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