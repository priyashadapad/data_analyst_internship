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6D63-7C5F-7C9E-A2EA-600A8DB79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0B32D-2D98-724C-BD7F-9F974B6EC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CE561-3A97-CC92-67A8-078B1D20F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F0718-4D70-AE20-9F3B-322D9265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7535-F518-AD13-614E-6F967326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09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F57A-12EC-A6DE-B5AE-1ACE396F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F113-7FF7-1D1C-0A5B-DC59277C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5A1FA-875F-D7D0-EFF4-36C251A1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C5B3-5004-0680-3772-DCCF6BD4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DF1E0-4BEC-7169-AE6C-A35547AA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90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830E-7636-4AF1-A33A-20BEFB32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22073-76AB-4D62-E465-B1E0A16C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9232E-D5DB-08A2-5D95-203E5599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64E8C-7498-1173-BC2C-5EE0A4C4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F356F-86CE-4F52-F2F4-C38F5527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22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9DDC-8180-C159-D49F-C2F04A87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EB22-80F5-6984-7952-86FB4955D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B5C6A-8A8C-D363-F03A-C429A986E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3C30D-DBB1-92FA-824A-191F067E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4E62B-C001-D1DF-67A1-711110D5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CCF60-4A81-DF37-88D9-E77C8C4B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85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738F-754E-DF3E-F0CE-5C042D1A1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26809-0042-CD1A-68B5-D16FA2C5E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63BB8-7206-5A6B-4BE8-B79A57278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A1427-5DEA-188C-3FA3-A66DCA25E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09238-ACB2-A39F-170C-C053E4D65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DB1F7-B39C-F1D2-2E0A-815CD34C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E852E-BFF3-ECE8-65BA-50FFC13C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406471-4266-C0F9-C12C-B3C1156E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3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523B-8294-D213-CF09-2DCF948C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89C0D-5828-4AFF-B487-4E119852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032AC-A54F-739A-41FF-6AAAA6EB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04B83-4B97-1DF8-4FD7-FE5B6449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90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284A95-BD10-2CC7-3E59-F2005497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EB083-60F6-B045-23DB-0C64B5A1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D2A13-5C77-2333-FBC6-671C4094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89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39EB-155F-F02A-740A-047A335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A6BB-0728-30BB-5F96-FC44C1522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D0606-0A17-6D93-F3F7-D55AF33D0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D03AC-EB8F-46AD-1DB7-54F703E0C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E31A7-89B0-BF41-FEE4-7CD44042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B8C1D-61F4-70B1-0C67-14ADA0AF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02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E92B-093D-150D-512D-6D9C791C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14984-C956-F238-C59F-F681B7700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3C745-E675-406E-C8DA-8C2B2AAA5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2A0F3-6C26-0731-B85C-59240F63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879EE-2876-FC6C-5B3A-1EAE2071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F576E-65ED-2FE3-2FB8-6F584A15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55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307D-97B0-EA78-1BD7-FD883813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BA035-D1A0-C9BC-B16A-C4BA4BB94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D4480-4F27-0355-C3F4-F8A0BACC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46EC0-1916-55CA-F09F-F9EDC7F6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0508-5435-0D8C-C67C-E4D2F551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11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05682-E22A-5966-9CC1-A498B32C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A10B1-B1E0-1385-11D1-E3514207F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5FB0F-E1FF-51A5-2944-76B5596D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9019-62F5-59A6-3D8A-E5DA5418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FE9C1-3C93-4499-0F33-58FA8984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8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C1E6C-F43D-6DEC-EEDB-D83FB24A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A3140-D977-A4A5-658C-4D52DD1B4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69E7-78D4-8075-D218-9A04E6602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C1D04-5196-4F06-AACF-E77D404387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193F-D2F6-1A1C-38C9-EE01FD02B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C5D32-904D-6B14-8594-90623D212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9CC14-9D81-4B49-905C-210DE3553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99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1530-75CF-ACD5-C37B-235BCECC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Queries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469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74DD-E0ED-346D-C01E-3A069618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Select statement: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9D93-0830-B79B-F69C-8044EA9AF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select * from offices;</a:t>
            </a:r>
          </a:p>
          <a:p>
            <a:pPr lvl="1"/>
            <a:r>
              <a:rPr lang="en-US" sz="2000" dirty="0"/>
              <a:t>Displays </a:t>
            </a:r>
            <a:r>
              <a:rPr lang="en-US" sz="2000" b="1" dirty="0"/>
              <a:t>all columns and rows</a:t>
            </a:r>
            <a:r>
              <a:rPr lang="en-US" sz="2000" dirty="0"/>
              <a:t> from offices table.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E16ED-C3F5-4FA4-E209-E4D70F1F5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58" y="2659576"/>
            <a:ext cx="8191806" cy="14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8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C413F-00DA-902F-2FFB-8128AB33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BC14-2C9F-E6A7-862E-6C833A2B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dirty="0"/>
              <a:t>DISTINCT + WHERE</a:t>
            </a:r>
            <a:r>
              <a:rPr lang="en-IN" sz="2400" b="1" dirty="0"/>
              <a:t>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91CE-78DE-CC19-E2AB-B5A5C22E6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select distinct country from customers where state is not null;</a:t>
            </a:r>
          </a:p>
          <a:p>
            <a:pPr lvl="1"/>
            <a:r>
              <a:rPr lang="en-US" sz="2000" dirty="0"/>
              <a:t>Shows unique customer countries where state information exists.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10CBE-81BB-64B1-B6CC-C947E9D2B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223" y="2301648"/>
            <a:ext cx="2789094" cy="309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2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A3EF1-4489-1E51-8A5C-823ACE66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848E-FA50-36B8-71CA-EBDDCA2C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Order by: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B33A-1E28-F474-776F-14EF17267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select </a:t>
            </a:r>
            <a:r>
              <a:rPr lang="en-US" sz="2000" dirty="0" err="1"/>
              <a:t>firstName</a:t>
            </a:r>
            <a:r>
              <a:rPr lang="en-US" sz="2000" dirty="0"/>
              <a:t>, </a:t>
            </a:r>
            <a:r>
              <a:rPr lang="en-US" sz="2000" dirty="0" err="1"/>
              <a:t>lastName</a:t>
            </a:r>
            <a:r>
              <a:rPr lang="en-US" sz="2000" dirty="0"/>
              <a:t> from employees order by </a:t>
            </a:r>
            <a:r>
              <a:rPr lang="en-US" sz="2000" dirty="0" err="1"/>
              <a:t>lastName</a:t>
            </a:r>
            <a:r>
              <a:rPr lang="en-US" sz="2000" dirty="0"/>
              <a:t> desc, </a:t>
            </a:r>
            <a:r>
              <a:rPr lang="en-US" sz="2000" dirty="0" err="1"/>
              <a:t>firstName</a:t>
            </a:r>
            <a:r>
              <a:rPr lang="en-US" sz="2000" dirty="0"/>
              <a:t> </a:t>
            </a:r>
            <a:r>
              <a:rPr lang="en-US" sz="2000" dirty="0" err="1"/>
              <a:t>asc</a:t>
            </a:r>
            <a:r>
              <a:rPr lang="en-US" sz="2000" dirty="0"/>
              <a:t> limit 5;</a:t>
            </a:r>
          </a:p>
          <a:p>
            <a:pPr lvl="1"/>
            <a:r>
              <a:rPr lang="en-US" sz="2000" dirty="0"/>
              <a:t>Retrieves top 5 employees sorted by last name (descending) and first name (ascending).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BC99C-7318-E0F0-4388-6F57F65D2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316" y="2602158"/>
            <a:ext cx="3908042" cy="317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7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BA82-55F5-BD5F-C551-87887B73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07F8-3C88-5BD9-63AF-202E3B3A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group by: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AEE35-1490-AC1E-3FDC-B499500B0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select </a:t>
            </a:r>
            <a:r>
              <a:rPr lang="en-US" sz="2000" dirty="0" err="1"/>
              <a:t>status,count</a:t>
            </a:r>
            <a:r>
              <a:rPr lang="en-US" sz="2000" dirty="0"/>
              <a:t>(*) from orders group by status;</a:t>
            </a:r>
          </a:p>
          <a:p>
            <a:pPr lvl="1"/>
            <a:r>
              <a:rPr lang="en-US" sz="2000" dirty="0"/>
              <a:t>Counts the number of orders for each status.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65C55-6BC5-6EAE-13AA-340BCA17B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87" y="2266723"/>
            <a:ext cx="3722588" cy="32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071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A131-F164-E21B-AC11-B2CB64F2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D427-CCF2-1FB1-FF97-9C87E648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Aggregate functions: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D62A-9565-DAEE-4EA9-808FCF7B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select </a:t>
            </a:r>
            <a:r>
              <a:rPr lang="en-US" sz="2000" dirty="0" err="1"/>
              <a:t>status,sum</a:t>
            </a:r>
            <a:r>
              <a:rPr lang="en-US" sz="2000" dirty="0"/>
              <a:t>(</a:t>
            </a:r>
            <a:r>
              <a:rPr lang="en-US" sz="2000" dirty="0" err="1"/>
              <a:t>priceEach</a:t>
            </a:r>
            <a:r>
              <a:rPr lang="en-US" sz="2000" dirty="0"/>
              <a:t> * </a:t>
            </a:r>
            <a:r>
              <a:rPr lang="en-US" sz="2000" dirty="0" err="1"/>
              <a:t>quantityOrdered</a:t>
            </a:r>
            <a:r>
              <a:rPr lang="en-US" sz="2000" dirty="0"/>
              <a:t>) as Sum from orders join </a:t>
            </a:r>
            <a:r>
              <a:rPr lang="en-US" sz="2000" dirty="0" err="1"/>
              <a:t>orderdetails</a:t>
            </a:r>
            <a:r>
              <a:rPr lang="en-US" sz="2000" dirty="0"/>
              <a:t> on  </a:t>
            </a:r>
            <a:r>
              <a:rPr lang="en-US" sz="2000" dirty="0" err="1"/>
              <a:t>orders.orderNumber</a:t>
            </a:r>
            <a:r>
              <a:rPr lang="en-US" sz="2000" dirty="0"/>
              <a:t>=</a:t>
            </a:r>
            <a:r>
              <a:rPr lang="en-US" sz="2000" dirty="0" err="1"/>
              <a:t>orderdetails.orderNumber</a:t>
            </a:r>
            <a:r>
              <a:rPr lang="en-US" sz="2000" dirty="0"/>
              <a:t> group by status;</a:t>
            </a:r>
          </a:p>
          <a:p>
            <a:pPr lvl="1"/>
            <a:r>
              <a:rPr lang="en-US" sz="1600" dirty="0"/>
              <a:t>Calculates total revenue grouped by order status. Refer S1</a:t>
            </a:r>
          </a:p>
          <a:p>
            <a:r>
              <a:rPr lang="en-US" sz="2000" dirty="0"/>
              <a:t>select Year(</a:t>
            </a:r>
            <a:r>
              <a:rPr lang="en-US" sz="2000" dirty="0" err="1"/>
              <a:t>orderDate</a:t>
            </a:r>
            <a:r>
              <a:rPr lang="en-US" sz="2000" dirty="0"/>
              <a:t>) as Year, sum(</a:t>
            </a:r>
            <a:r>
              <a:rPr lang="en-US" sz="2000" dirty="0" err="1"/>
              <a:t>priceEach</a:t>
            </a:r>
            <a:r>
              <a:rPr lang="en-US" sz="2000" dirty="0"/>
              <a:t> * </a:t>
            </a:r>
            <a:r>
              <a:rPr lang="en-US" sz="2000" dirty="0" err="1"/>
              <a:t>quantityOrdered</a:t>
            </a:r>
            <a:r>
              <a:rPr lang="en-US" sz="2000" dirty="0"/>
              <a:t>) as Sum from orders join </a:t>
            </a:r>
            <a:r>
              <a:rPr lang="en-US" sz="2000" dirty="0" err="1"/>
              <a:t>orderdetails</a:t>
            </a:r>
            <a:r>
              <a:rPr lang="en-US" sz="2000" dirty="0"/>
              <a:t> on  </a:t>
            </a:r>
            <a:r>
              <a:rPr lang="en-US" sz="2000" dirty="0" err="1"/>
              <a:t>orders.orderNumber</a:t>
            </a:r>
            <a:r>
              <a:rPr lang="en-US" sz="2000" dirty="0"/>
              <a:t>=</a:t>
            </a:r>
            <a:r>
              <a:rPr lang="en-US" sz="2000" dirty="0" err="1"/>
              <a:t>orderdetails.orderNumber</a:t>
            </a:r>
            <a:r>
              <a:rPr lang="en-US" sz="2000" dirty="0"/>
              <a:t> where status = 'Shipped' group by Year having Year &gt; 2000;</a:t>
            </a:r>
          </a:p>
          <a:p>
            <a:pPr lvl="1"/>
            <a:r>
              <a:rPr lang="en-US" sz="1600" dirty="0"/>
              <a:t>Shows yearly shipped revenue for years after 2000. Refer S2</a:t>
            </a:r>
          </a:p>
          <a:p>
            <a:r>
              <a:rPr lang="en-US" sz="2000" dirty="0"/>
              <a:t>select Year(</a:t>
            </a:r>
            <a:r>
              <a:rPr lang="en-US" sz="2000" dirty="0" err="1"/>
              <a:t>orderDate</a:t>
            </a:r>
            <a:r>
              <a:rPr lang="en-US" sz="2000" dirty="0"/>
              <a:t>) as Year, status, avg(</a:t>
            </a:r>
            <a:r>
              <a:rPr lang="en-US" sz="2000" dirty="0" err="1"/>
              <a:t>priceEach</a:t>
            </a:r>
            <a:r>
              <a:rPr lang="en-US" sz="2000" dirty="0"/>
              <a:t> * </a:t>
            </a:r>
            <a:r>
              <a:rPr lang="en-US" sz="2000" dirty="0" err="1"/>
              <a:t>quantityOrdered</a:t>
            </a:r>
            <a:r>
              <a:rPr lang="en-US" sz="2000" dirty="0"/>
              <a:t>) as </a:t>
            </a:r>
            <a:r>
              <a:rPr lang="en-US" sz="2000" dirty="0" err="1"/>
              <a:t>AvgSum</a:t>
            </a:r>
            <a:r>
              <a:rPr lang="en-US" sz="2000" dirty="0"/>
              <a:t> from orders join </a:t>
            </a:r>
            <a:r>
              <a:rPr lang="en-US" sz="2000" dirty="0" err="1"/>
              <a:t>orderdetails</a:t>
            </a:r>
            <a:r>
              <a:rPr lang="en-US" sz="2000" dirty="0"/>
              <a:t> on  </a:t>
            </a:r>
            <a:r>
              <a:rPr lang="en-US" sz="2000" dirty="0" err="1"/>
              <a:t>orders.orderNumber</a:t>
            </a:r>
            <a:r>
              <a:rPr lang="en-US" sz="2000" dirty="0"/>
              <a:t>=</a:t>
            </a:r>
            <a:r>
              <a:rPr lang="en-US" sz="2000" dirty="0" err="1"/>
              <a:t>orderdetails.orderNumber</a:t>
            </a:r>
            <a:r>
              <a:rPr lang="en-US" sz="2000" dirty="0"/>
              <a:t> group by </a:t>
            </a:r>
            <a:r>
              <a:rPr lang="en-US" sz="2000" dirty="0" err="1"/>
              <a:t>Year,status</a:t>
            </a:r>
            <a:r>
              <a:rPr lang="en-US" sz="2000" dirty="0"/>
              <a:t> order by year;</a:t>
            </a:r>
          </a:p>
          <a:p>
            <a:pPr lvl="1"/>
            <a:r>
              <a:rPr lang="en-US" sz="1600" dirty="0"/>
              <a:t>Calculates average order value by year and status. Refer S3</a:t>
            </a:r>
          </a:p>
        </p:txBody>
      </p:sp>
    </p:spTree>
    <p:extLst>
      <p:ext uri="{BB962C8B-B14F-4D97-AF65-F5344CB8AC3E}">
        <p14:creationId xmlns:p14="http://schemas.microsoft.com/office/powerpoint/2010/main" val="375192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A1B9FD-18F6-88D8-CE38-D90AA9C01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8" y="483911"/>
            <a:ext cx="3257078" cy="2790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88E061-4751-7749-3696-EFCAB71D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004" y="659042"/>
            <a:ext cx="3506388" cy="2615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5CAE2D-5D8F-0AD1-DBA1-C59205BCB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392" y="788482"/>
            <a:ext cx="4320914" cy="1943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EE0D70-E0B6-EFF7-5FE1-ED9A7770457D}"/>
              </a:ext>
            </a:extLst>
          </p:cNvPr>
          <p:cNvSpPr txBox="1"/>
          <p:nvPr/>
        </p:nvSpPr>
        <p:spPr>
          <a:xfrm>
            <a:off x="422787" y="3429000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0AD368-0311-BD3F-9F0D-6C30AD7D1272}"/>
              </a:ext>
            </a:extLst>
          </p:cNvPr>
          <p:cNvSpPr txBox="1"/>
          <p:nvPr/>
        </p:nvSpPr>
        <p:spPr>
          <a:xfrm>
            <a:off x="3788004" y="3429000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3F6DB-2FEA-C302-96F6-076FF7D273AF}"/>
              </a:ext>
            </a:extLst>
          </p:cNvPr>
          <p:cNvSpPr txBox="1"/>
          <p:nvPr/>
        </p:nvSpPr>
        <p:spPr>
          <a:xfrm>
            <a:off x="8034087" y="3037545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528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F1AFD-EFA2-D587-2167-62A728FC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009C-C907-7E89-83F6-9D30CD7A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Joins: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FB62-ACC6-F3F3-0641-02FB1667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select distinct </a:t>
            </a:r>
            <a:r>
              <a:rPr lang="en-US" sz="2000" dirty="0" err="1"/>
              <a:t>customerName</a:t>
            </a:r>
            <a:r>
              <a:rPr lang="en-US" sz="2000" dirty="0"/>
              <a:t>, city, amount from customers inner join payments on </a:t>
            </a:r>
            <a:r>
              <a:rPr lang="en-US" sz="2000" dirty="0" err="1"/>
              <a:t>customers.customerNumber</a:t>
            </a:r>
            <a:r>
              <a:rPr lang="en-US" sz="2000" dirty="0"/>
              <a:t> = </a:t>
            </a:r>
            <a:r>
              <a:rPr lang="en-US" sz="2000" dirty="0" err="1"/>
              <a:t>payments.customerNumber</a:t>
            </a:r>
            <a:r>
              <a:rPr lang="en-US" sz="2000" dirty="0"/>
              <a:t>;</a:t>
            </a:r>
          </a:p>
          <a:p>
            <a:r>
              <a:rPr lang="en-US" sz="2000" dirty="0"/>
              <a:t>select distinct </a:t>
            </a:r>
            <a:r>
              <a:rPr lang="en-US" sz="2000" dirty="0" err="1"/>
              <a:t>customerName</a:t>
            </a:r>
            <a:r>
              <a:rPr lang="en-US" sz="2000" dirty="0"/>
              <a:t>, city, amount from customers left join payments on </a:t>
            </a:r>
            <a:r>
              <a:rPr lang="en-US" sz="2000" dirty="0" err="1"/>
              <a:t>customers.customerNumber</a:t>
            </a:r>
            <a:r>
              <a:rPr lang="en-US" sz="2000" dirty="0"/>
              <a:t> = </a:t>
            </a:r>
            <a:r>
              <a:rPr lang="en-US" sz="2000" dirty="0" err="1"/>
              <a:t>payments.customerNumber</a:t>
            </a:r>
            <a:r>
              <a:rPr lang="en-US" sz="2000" dirty="0"/>
              <a:t>;</a:t>
            </a:r>
          </a:p>
          <a:p>
            <a:r>
              <a:rPr lang="en-US" sz="2000" dirty="0"/>
              <a:t>select distinct </a:t>
            </a:r>
            <a:r>
              <a:rPr lang="en-US" sz="2000" dirty="0" err="1"/>
              <a:t>customerName</a:t>
            </a:r>
            <a:r>
              <a:rPr lang="en-US" sz="2000" dirty="0"/>
              <a:t>, city, amount from customers right join payments on </a:t>
            </a:r>
            <a:r>
              <a:rPr lang="en-US" sz="2000" dirty="0" err="1"/>
              <a:t>customers.customerNumber</a:t>
            </a:r>
            <a:r>
              <a:rPr lang="en-US" sz="2000" dirty="0"/>
              <a:t> = </a:t>
            </a:r>
            <a:r>
              <a:rPr lang="en-US" sz="2000" dirty="0" err="1"/>
              <a:t>payments.customerNumber;Counts</a:t>
            </a:r>
            <a:r>
              <a:rPr lang="en-US" sz="2000" dirty="0"/>
              <a:t> the number of orders for each status.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5C2A9-F2DB-3F15-26DD-733CD9310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212" y="3628103"/>
            <a:ext cx="4080618" cy="247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0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C338-A096-7078-B2E2-EDBE0300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4D55-1EB2-A11E-26AE-AAADDF0C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Subquery: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C74CA-320B-8466-04C7-F566F6702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select </a:t>
            </a:r>
            <a:r>
              <a:rPr lang="en-US" sz="2000" dirty="0" err="1"/>
              <a:t>firstName</a:t>
            </a:r>
            <a:r>
              <a:rPr lang="en-US" sz="2000" dirty="0"/>
              <a:t> from employees where </a:t>
            </a:r>
            <a:r>
              <a:rPr lang="en-US" sz="2000" dirty="0" err="1"/>
              <a:t>officeCode</a:t>
            </a:r>
            <a:r>
              <a:rPr lang="en-US" sz="2000" dirty="0"/>
              <a:t> in (select </a:t>
            </a:r>
            <a:r>
              <a:rPr lang="en-US" sz="2000" dirty="0" err="1"/>
              <a:t>officeCode</a:t>
            </a:r>
            <a:r>
              <a:rPr lang="en-US" sz="2000" dirty="0"/>
              <a:t> from offices where country='USA’);</a:t>
            </a:r>
          </a:p>
          <a:p>
            <a:pPr lvl="1"/>
            <a:r>
              <a:rPr lang="en-US" sz="1600" dirty="0"/>
              <a:t>Retrieves employees working in USA offices. Refer S1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productCode</a:t>
            </a:r>
            <a:r>
              <a:rPr lang="en-US" sz="2000" dirty="0"/>
              <a:t> from (select </a:t>
            </a:r>
            <a:r>
              <a:rPr lang="en-US" sz="2000" dirty="0" err="1"/>
              <a:t>productCode</a:t>
            </a:r>
            <a:r>
              <a:rPr lang="en-US" sz="2000" dirty="0"/>
              <a:t> from </a:t>
            </a:r>
            <a:r>
              <a:rPr lang="en-US" sz="2000" dirty="0" err="1"/>
              <a:t>orderdetails</a:t>
            </a:r>
            <a:r>
              <a:rPr lang="en-US" sz="2000" dirty="0"/>
              <a:t> where </a:t>
            </a:r>
            <a:r>
              <a:rPr lang="en-US" sz="2000" dirty="0" err="1"/>
              <a:t>quantityOrdered</a:t>
            </a:r>
            <a:r>
              <a:rPr lang="en-US" sz="2000" dirty="0"/>
              <a:t> &gt; 40) as </a:t>
            </a:r>
            <a:r>
              <a:rPr lang="en-US" sz="2000" dirty="0" err="1"/>
              <a:t>MostQuantity</a:t>
            </a:r>
            <a:r>
              <a:rPr lang="en-US" sz="2000" dirty="0"/>
              <a:t>;</a:t>
            </a:r>
          </a:p>
          <a:p>
            <a:pPr lvl="1"/>
            <a:r>
              <a:rPr lang="en-US" sz="1600" dirty="0"/>
              <a:t>Retrieves product codes with large order quantities. Refer S2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productname</a:t>
            </a:r>
            <a:r>
              <a:rPr lang="en-US" sz="2000" dirty="0"/>
              <a:t>, </a:t>
            </a:r>
            <a:r>
              <a:rPr lang="en-US" sz="2000" dirty="0" err="1"/>
              <a:t>buyprice</a:t>
            </a:r>
            <a:r>
              <a:rPr lang="en-US" sz="2000" dirty="0"/>
              <a:t> FROM products p1 WHERE </a:t>
            </a:r>
            <a:r>
              <a:rPr lang="en-US" sz="2000" dirty="0" err="1"/>
              <a:t>buyprice</a:t>
            </a:r>
            <a:r>
              <a:rPr lang="en-US" sz="2000" dirty="0"/>
              <a:t> &gt; (SELECT AVG(</a:t>
            </a:r>
            <a:r>
              <a:rPr lang="en-US" sz="2000" dirty="0" err="1"/>
              <a:t>buyprice</a:t>
            </a:r>
            <a:r>
              <a:rPr lang="en-US" sz="2000" dirty="0"/>
              <a:t>) FROM products WHERE </a:t>
            </a:r>
            <a:r>
              <a:rPr lang="en-US" sz="2000" dirty="0" err="1"/>
              <a:t>productline</a:t>
            </a:r>
            <a:r>
              <a:rPr lang="en-US" sz="2000" dirty="0"/>
              <a:t> = p1.productline);</a:t>
            </a:r>
          </a:p>
          <a:p>
            <a:pPr lvl="1"/>
            <a:r>
              <a:rPr lang="en-US" sz="1600" dirty="0"/>
              <a:t>Shows products priced above their product line average. Refer S3</a:t>
            </a:r>
          </a:p>
        </p:txBody>
      </p:sp>
    </p:spTree>
    <p:extLst>
      <p:ext uri="{BB962C8B-B14F-4D97-AF65-F5344CB8AC3E}">
        <p14:creationId xmlns:p14="http://schemas.microsoft.com/office/powerpoint/2010/main" val="3787380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58683-1EDF-9545-B81C-798FA2C6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BEE3F0E-AB84-31C0-E055-C662FCE538A3}"/>
              </a:ext>
            </a:extLst>
          </p:cNvPr>
          <p:cNvSpPr txBox="1"/>
          <p:nvPr/>
        </p:nvSpPr>
        <p:spPr>
          <a:xfrm>
            <a:off x="422787" y="3429000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4E343-9A9E-E94D-25E6-AEE4E4873C4F}"/>
              </a:ext>
            </a:extLst>
          </p:cNvPr>
          <p:cNvSpPr txBox="1"/>
          <p:nvPr/>
        </p:nvSpPr>
        <p:spPr>
          <a:xfrm>
            <a:off x="3788004" y="3429000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33699E-481C-1E52-119D-AFF1C09FD306}"/>
              </a:ext>
            </a:extLst>
          </p:cNvPr>
          <p:cNvSpPr txBox="1"/>
          <p:nvPr/>
        </p:nvSpPr>
        <p:spPr>
          <a:xfrm>
            <a:off x="8034087" y="3037545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ABADF-EFA5-0373-8F38-ECB1F6D7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1294184"/>
            <a:ext cx="3063505" cy="1928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BEF4FF-CCBB-8B5D-2CC3-E4268FD09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004" y="1202735"/>
            <a:ext cx="2880610" cy="21109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6E33DE-66CF-9053-30F0-D0694CAD4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69" y="1202735"/>
            <a:ext cx="3947502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5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2526-3D2E-047C-6074-5127CE62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11437-F716-C3DF-2C2E-4C5C8A44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Views: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18DF3-E281-6967-E5BE-344DD3D57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create view </a:t>
            </a:r>
            <a:r>
              <a:rPr lang="en-US" sz="2000" dirty="0" err="1"/>
              <a:t>customer_info</a:t>
            </a:r>
            <a:r>
              <a:rPr lang="en-US" sz="2000" dirty="0"/>
              <a:t> </a:t>
            </a:r>
            <a:r>
              <a:rPr lang="en-US" sz="2000" dirty="0" err="1"/>
              <a:t>asselect</a:t>
            </a:r>
            <a:r>
              <a:rPr lang="en-US" sz="2000" dirty="0"/>
              <a:t> </a:t>
            </a:r>
            <a:r>
              <a:rPr lang="en-US" sz="2000" dirty="0" err="1"/>
              <a:t>CustomerName</a:t>
            </a:r>
            <a:r>
              <a:rPr lang="en-US" sz="2000" dirty="0"/>
              <a:t>, phone from customers;</a:t>
            </a:r>
            <a:r>
              <a:rPr lang="en-US" sz="1600" dirty="0"/>
              <a:t> </a:t>
            </a:r>
          </a:p>
          <a:p>
            <a:pPr lvl="1"/>
            <a:r>
              <a:rPr lang="en-US" sz="1800" dirty="0"/>
              <a:t>Creates a virtual table showing customer names and phone numbers.</a:t>
            </a:r>
          </a:p>
          <a:p>
            <a:r>
              <a:rPr lang="en-US" sz="2000" dirty="0"/>
              <a:t>select * from </a:t>
            </a:r>
            <a:r>
              <a:rPr lang="en-US" sz="2000" dirty="0" err="1"/>
              <a:t>customer_info</a:t>
            </a:r>
            <a:r>
              <a:rPr lang="en-US" sz="20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1436E-D7C9-A714-B53D-1EB976800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32" y="2304189"/>
            <a:ext cx="5346456" cy="301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75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2544-86E4-396E-E93D-BA9F7019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92B6-35B7-84DD-41D8-B56039E7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Index: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FA73F-A84D-64C0-4C80-E416ED83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3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CREATE INDEX </a:t>
            </a:r>
            <a:r>
              <a:rPr lang="en-US" sz="2000" dirty="0" err="1"/>
              <a:t>idx_orders_orderDateON</a:t>
            </a:r>
            <a:r>
              <a:rPr lang="en-US" sz="2000" dirty="0"/>
              <a:t> orders(</a:t>
            </a:r>
            <a:r>
              <a:rPr lang="en-US" sz="2000" dirty="0" err="1"/>
              <a:t>orderDate</a:t>
            </a:r>
            <a:r>
              <a:rPr lang="en-US" sz="2000" dirty="0"/>
              <a:t>);</a:t>
            </a:r>
            <a:r>
              <a:rPr lang="en-US" sz="1600" dirty="0"/>
              <a:t> </a:t>
            </a:r>
          </a:p>
          <a:p>
            <a:pPr lvl="1"/>
            <a:r>
              <a:rPr lang="en-US" sz="1800" dirty="0"/>
              <a:t>Creates an index to speed up queries filtering or sorting by </a:t>
            </a:r>
            <a:r>
              <a:rPr lang="en-US" sz="1800" dirty="0" err="1"/>
              <a:t>orderDate</a:t>
            </a:r>
            <a:r>
              <a:rPr lang="en-US" sz="18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605528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472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SQL Queries</vt:lpstr>
      <vt:lpstr>Select statement: </vt:lpstr>
      <vt:lpstr>DISTINCT + WHERE: </vt:lpstr>
      <vt:lpstr>Order by: </vt:lpstr>
      <vt:lpstr>group by: </vt:lpstr>
      <vt:lpstr>Aggregate functions: </vt:lpstr>
      <vt:lpstr>PowerPoint Presentation</vt:lpstr>
      <vt:lpstr>Joins: </vt:lpstr>
      <vt:lpstr>Subquery: </vt:lpstr>
      <vt:lpstr>PowerPoint Presentation</vt:lpstr>
      <vt:lpstr>Views: </vt:lpstr>
      <vt:lpstr>Index: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sangmesh hadapad</dc:creator>
  <cp:lastModifiedBy>sangmesh hadapad</cp:lastModifiedBy>
  <cp:revision>1</cp:revision>
  <dcterms:created xsi:type="dcterms:W3CDTF">2026-02-16T15:21:24Z</dcterms:created>
  <dcterms:modified xsi:type="dcterms:W3CDTF">2026-02-16T15:44:22Z</dcterms:modified>
</cp:coreProperties>
</file>